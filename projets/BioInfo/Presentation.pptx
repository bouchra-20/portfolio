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Bubblebody Neue Bold" charset="1" panose="00000500000000000000"/>
      <p:regular r:id="rId17"/>
    </p:embeddedFont>
    <p:embeddedFont>
      <p:font typeface="Canva Sans Bold" charset="1" panose="020B0803030501040103"/>
      <p:regular r:id="rId18"/>
    </p:embeddedFont>
    <p:embeddedFont>
      <p:font typeface="Canva Sans" charset="1" panose="020B0503030501040103"/>
      <p:regular r:id="rId19"/>
    </p:embeddedFont>
    <p:embeddedFont>
      <p:font typeface="Canva Sans Italics" charset="1" panose="020B0503030501040103"/>
      <p:regular r:id="rId20"/>
    </p:embeddedFont>
    <p:embeddedFont>
      <p:font typeface="Bubblebody Neue" charset="1" panose="000005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0.png" Type="http://schemas.openxmlformats.org/officeDocument/2006/relationships/image"/><Relationship Id="rId7" Target="../media/image1.png" Type="http://schemas.openxmlformats.org/officeDocument/2006/relationships/image"/><Relationship Id="rId8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11" Target="../media/image3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3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png" Type="http://schemas.openxmlformats.org/officeDocument/2006/relationships/image"/><Relationship Id="rId11" Target="../media/image39.svg" Type="http://schemas.openxmlformats.org/officeDocument/2006/relationships/image"/><Relationship Id="rId2" Target="../media/image32.png" Type="http://schemas.openxmlformats.org/officeDocument/2006/relationships/image"/><Relationship Id="rId3" Target="../media/image33.sv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Relationship Id="rId6" Target="../media/image36.png" Type="http://schemas.openxmlformats.org/officeDocument/2006/relationships/image"/><Relationship Id="rId7" Target="../media/image37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png" Type="http://schemas.openxmlformats.org/officeDocument/2006/relationships/image"/><Relationship Id="rId11" Target="../media/image45.svg" Type="http://schemas.openxmlformats.org/officeDocument/2006/relationships/image"/><Relationship Id="rId2" Target="../media/image34.png" Type="http://schemas.openxmlformats.org/officeDocument/2006/relationships/image"/><Relationship Id="rId3" Target="../media/image35.svg" Type="http://schemas.openxmlformats.org/officeDocument/2006/relationships/image"/><Relationship Id="rId4" Target="../media/image40.png" Type="http://schemas.openxmlformats.org/officeDocument/2006/relationships/image"/><Relationship Id="rId5" Target="../media/image41.svg" Type="http://schemas.openxmlformats.org/officeDocument/2006/relationships/image"/><Relationship Id="rId6" Target="../media/image42.png" Type="http://schemas.openxmlformats.org/officeDocument/2006/relationships/image"/><Relationship Id="rId7" Target="../media/image43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74404" y="7592385"/>
            <a:ext cx="3539193" cy="199127"/>
          </a:xfrm>
          <a:custGeom>
            <a:avLst/>
            <a:gdLst/>
            <a:ahLst/>
            <a:cxnLst/>
            <a:rect r="r" b="b" t="t" l="l"/>
            <a:pathLst>
              <a:path h="199127" w="3539193">
                <a:moveTo>
                  <a:pt x="0" y="0"/>
                </a:moveTo>
                <a:lnTo>
                  <a:pt x="3539192" y="0"/>
                </a:lnTo>
                <a:lnTo>
                  <a:pt x="3539192" y="199127"/>
                </a:lnTo>
                <a:lnTo>
                  <a:pt x="0" y="199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374404" y="1028700"/>
            <a:ext cx="3539193" cy="199127"/>
          </a:xfrm>
          <a:custGeom>
            <a:avLst/>
            <a:gdLst/>
            <a:ahLst/>
            <a:cxnLst/>
            <a:rect r="r" b="b" t="t" l="l"/>
            <a:pathLst>
              <a:path h="199127" w="3539193">
                <a:moveTo>
                  <a:pt x="0" y="0"/>
                </a:moveTo>
                <a:lnTo>
                  <a:pt x="3539192" y="0"/>
                </a:lnTo>
                <a:lnTo>
                  <a:pt x="3539192" y="199127"/>
                </a:lnTo>
                <a:lnTo>
                  <a:pt x="0" y="199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300606" y="327725"/>
            <a:ext cx="5472439" cy="3066788"/>
          </a:xfrm>
          <a:custGeom>
            <a:avLst/>
            <a:gdLst/>
            <a:ahLst/>
            <a:cxnLst/>
            <a:rect r="r" b="b" t="t" l="l"/>
            <a:pathLst>
              <a:path h="3066788" w="5472439">
                <a:moveTo>
                  <a:pt x="0" y="0"/>
                </a:moveTo>
                <a:lnTo>
                  <a:pt x="5472439" y="0"/>
                </a:lnTo>
                <a:lnTo>
                  <a:pt x="5472439" y="3066787"/>
                </a:lnTo>
                <a:lnTo>
                  <a:pt x="0" y="30667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731322" y="3502789"/>
            <a:ext cx="10825356" cy="3822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76"/>
              </a:lnSpc>
            </a:pPr>
            <a:r>
              <a:rPr lang="en-US" b="true" sz="10768">
                <a:solidFill>
                  <a:srgbClr val="2D8BBA"/>
                </a:solidFill>
                <a:latin typeface="Bubblebody Neue Bold"/>
                <a:ea typeface="Bubblebody Neue Bold"/>
                <a:cs typeface="Bubblebody Neue Bold"/>
                <a:sym typeface="Bubblebody Neue Bold"/>
              </a:rPr>
              <a:t>FACTEURS DE TRANSCRIPTION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523081" y="6556075"/>
            <a:ext cx="5472439" cy="3066788"/>
          </a:xfrm>
          <a:custGeom>
            <a:avLst/>
            <a:gdLst/>
            <a:ahLst/>
            <a:cxnLst/>
            <a:rect r="r" b="b" t="t" l="l"/>
            <a:pathLst>
              <a:path h="3066788" w="5472439">
                <a:moveTo>
                  <a:pt x="0" y="0"/>
                </a:moveTo>
                <a:lnTo>
                  <a:pt x="5472438" y="0"/>
                </a:lnTo>
                <a:lnTo>
                  <a:pt x="5472438" y="3066788"/>
                </a:lnTo>
                <a:lnTo>
                  <a:pt x="0" y="30667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306565">
            <a:off x="16544821" y="-610914"/>
            <a:ext cx="1428958" cy="4114800"/>
          </a:xfrm>
          <a:custGeom>
            <a:avLst/>
            <a:gdLst/>
            <a:ahLst/>
            <a:cxnLst/>
            <a:rect r="r" b="b" t="t" l="l"/>
            <a:pathLst>
              <a:path h="4114800" w="1428958">
                <a:moveTo>
                  <a:pt x="0" y="0"/>
                </a:moveTo>
                <a:lnTo>
                  <a:pt x="1428958" y="0"/>
                </a:lnTo>
                <a:lnTo>
                  <a:pt x="14289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8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32157" y="1603944"/>
            <a:ext cx="15823687" cy="1848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56"/>
              </a:lnSpc>
            </a:pPr>
            <a:r>
              <a:rPr lang="en-US" b="true" sz="10468">
                <a:solidFill>
                  <a:srgbClr val="593EA1"/>
                </a:solidFill>
                <a:latin typeface="Bubblebody Neue Bold"/>
                <a:ea typeface="Bubblebody Neue Bold"/>
                <a:cs typeface="Bubblebody Neue Bold"/>
                <a:sym typeface="Bubblebody Neue Bold"/>
              </a:rPr>
              <a:t>DÉTECTION DES SITES DE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32157" y="8694541"/>
            <a:ext cx="4269632" cy="563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6"/>
              </a:lnSpc>
            </a:pPr>
            <a:r>
              <a:rPr lang="en-US" sz="3304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Bouchra Bouamama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131778" y="8694541"/>
            <a:ext cx="4008374" cy="563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6"/>
              </a:lnSpc>
            </a:pPr>
            <a:r>
              <a:rPr lang="en-US" sz="3304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Nene Oumou Sow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7525710"/>
            <a:ext cx="2963346" cy="563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6"/>
              </a:lnSpc>
            </a:pPr>
            <a:r>
              <a:rPr lang="en-US" sz="3304" b="true">
                <a:solidFill>
                  <a:srgbClr val="593EA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Presenté par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86530" y="8884930"/>
            <a:ext cx="3539193" cy="199127"/>
          </a:xfrm>
          <a:custGeom>
            <a:avLst/>
            <a:gdLst/>
            <a:ahLst/>
            <a:cxnLst/>
            <a:rect r="r" b="b" t="t" l="l"/>
            <a:pathLst>
              <a:path h="199127" w="3539193">
                <a:moveTo>
                  <a:pt x="0" y="0"/>
                </a:moveTo>
                <a:lnTo>
                  <a:pt x="3539192" y="0"/>
                </a:lnTo>
                <a:lnTo>
                  <a:pt x="3539192" y="199126"/>
                </a:lnTo>
                <a:lnTo>
                  <a:pt x="0" y="1991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05955" y="-1045531"/>
            <a:ext cx="7315200" cy="3616754"/>
          </a:xfrm>
          <a:custGeom>
            <a:avLst/>
            <a:gdLst/>
            <a:ahLst/>
            <a:cxnLst/>
            <a:rect r="r" b="b" t="t" l="l"/>
            <a:pathLst>
              <a:path h="3616754" w="7315200">
                <a:moveTo>
                  <a:pt x="0" y="0"/>
                </a:moveTo>
                <a:lnTo>
                  <a:pt x="7315200" y="0"/>
                </a:lnTo>
                <a:lnTo>
                  <a:pt x="7315200" y="3616754"/>
                </a:lnTo>
                <a:lnTo>
                  <a:pt x="0" y="36167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835479" y="7390914"/>
            <a:ext cx="5472439" cy="3066788"/>
          </a:xfrm>
          <a:custGeom>
            <a:avLst/>
            <a:gdLst/>
            <a:ahLst/>
            <a:cxnLst/>
            <a:rect r="r" b="b" t="t" l="l"/>
            <a:pathLst>
              <a:path h="3066788" w="5472439">
                <a:moveTo>
                  <a:pt x="0" y="0"/>
                </a:moveTo>
                <a:lnTo>
                  <a:pt x="5472439" y="0"/>
                </a:lnTo>
                <a:lnTo>
                  <a:pt x="5472439" y="3066787"/>
                </a:lnTo>
                <a:lnTo>
                  <a:pt x="0" y="30667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863994" y="3882395"/>
            <a:ext cx="3020877" cy="4082267"/>
          </a:xfrm>
          <a:custGeom>
            <a:avLst/>
            <a:gdLst/>
            <a:ahLst/>
            <a:cxnLst/>
            <a:rect r="r" b="b" t="t" l="l"/>
            <a:pathLst>
              <a:path h="4082267" w="3020877">
                <a:moveTo>
                  <a:pt x="0" y="0"/>
                </a:moveTo>
                <a:lnTo>
                  <a:pt x="3020878" y="0"/>
                </a:lnTo>
                <a:lnTo>
                  <a:pt x="3020878" y="4082266"/>
                </a:lnTo>
                <a:lnTo>
                  <a:pt x="0" y="4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52525" y="4038554"/>
            <a:ext cx="3949469" cy="3769948"/>
          </a:xfrm>
          <a:custGeom>
            <a:avLst/>
            <a:gdLst/>
            <a:ahLst/>
            <a:cxnLst/>
            <a:rect r="r" b="b" t="t" l="l"/>
            <a:pathLst>
              <a:path h="3769948" w="3949469">
                <a:moveTo>
                  <a:pt x="0" y="0"/>
                </a:moveTo>
                <a:lnTo>
                  <a:pt x="3949469" y="0"/>
                </a:lnTo>
                <a:lnTo>
                  <a:pt x="3949469" y="3769948"/>
                </a:lnTo>
                <a:lnTo>
                  <a:pt x="0" y="37699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819150"/>
            <a:ext cx="16230600" cy="1425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true">
                <a:solidFill>
                  <a:srgbClr val="593EA1"/>
                </a:solidFill>
                <a:latin typeface="Bubblebody Neue Bold"/>
                <a:ea typeface="Bubblebody Neue Bold"/>
                <a:cs typeface="Bubblebody Neue Bold"/>
                <a:sym typeface="Bubblebody Neue Bold"/>
              </a:rPr>
              <a:t> Contexte et Problématique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46358" y="3441167"/>
            <a:ext cx="6825068" cy="196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Les facteurs de transcription (TF) régulent l’expression des gènes.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Sites de liaison : courtes séquences d’ADN dans les promoteurs.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646358" y="2466448"/>
            <a:ext cx="2710543" cy="708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true">
                <a:solidFill>
                  <a:srgbClr val="593EA1"/>
                </a:solidFill>
                <a:latin typeface="Bubblebody Neue Bold"/>
                <a:ea typeface="Bubblebody Neue Bold"/>
                <a:cs typeface="Bubblebody Neue Bold"/>
                <a:sym typeface="Bubblebody Neue Bold"/>
              </a:rPr>
              <a:t>Contenu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73017" y="6515613"/>
            <a:ext cx="6825068" cy="2468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Identifier ces sites dans de grandes séquences biologiques.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Fournir des résultats exploitables pour faciliter les analyses biologiques.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74958" y="5633822"/>
            <a:ext cx="2481943" cy="708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true">
                <a:solidFill>
                  <a:srgbClr val="593EA1"/>
                </a:solidFill>
                <a:latin typeface="Bubblebody Neue Bold"/>
                <a:ea typeface="Bubblebody Neue Bold"/>
                <a:cs typeface="Bubblebody Neue Bold"/>
                <a:sym typeface="Bubblebody Neue Bold"/>
              </a:rPr>
              <a:t>Problème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21277" y="9158737"/>
            <a:ext cx="3539193" cy="199127"/>
          </a:xfrm>
          <a:custGeom>
            <a:avLst/>
            <a:gdLst/>
            <a:ahLst/>
            <a:cxnLst/>
            <a:rect r="r" b="b" t="t" l="l"/>
            <a:pathLst>
              <a:path h="199127" w="3539193">
                <a:moveTo>
                  <a:pt x="0" y="0"/>
                </a:moveTo>
                <a:lnTo>
                  <a:pt x="3539193" y="0"/>
                </a:lnTo>
                <a:lnTo>
                  <a:pt x="3539193" y="199126"/>
                </a:lnTo>
                <a:lnTo>
                  <a:pt x="0" y="1991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820136">
            <a:off x="15909502" y="-889967"/>
            <a:ext cx="3597844" cy="4114800"/>
          </a:xfrm>
          <a:custGeom>
            <a:avLst/>
            <a:gdLst/>
            <a:ahLst/>
            <a:cxnLst/>
            <a:rect r="r" b="b" t="t" l="l"/>
            <a:pathLst>
              <a:path h="4114800" w="3597844">
                <a:moveTo>
                  <a:pt x="0" y="0"/>
                </a:moveTo>
                <a:lnTo>
                  <a:pt x="3597844" y="0"/>
                </a:lnTo>
                <a:lnTo>
                  <a:pt x="359784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2736219" y="-365961"/>
            <a:ext cx="5472439" cy="3066788"/>
          </a:xfrm>
          <a:custGeom>
            <a:avLst/>
            <a:gdLst/>
            <a:ahLst/>
            <a:cxnLst/>
            <a:rect r="r" b="b" t="t" l="l"/>
            <a:pathLst>
              <a:path h="3066788" w="5472439">
                <a:moveTo>
                  <a:pt x="5472438" y="0"/>
                </a:moveTo>
                <a:lnTo>
                  <a:pt x="0" y="0"/>
                </a:lnTo>
                <a:lnTo>
                  <a:pt x="0" y="3066788"/>
                </a:lnTo>
                <a:lnTo>
                  <a:pt x="5472438" y="3066788"/>
                </a:lnTo>
                <a:lnTo>
                  <a:pt x="547243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185997" y="3369920"/>
            <a:ext cx="4421538" cy="4460568"/>
          </a:xfrm>
          <a:custGeom>
            <a:avLst/>
            <a:gdLst/>
            <a:ahLst/>
            <a:cxnLst/>
            <a:rect r="r" b="b" t="t" l="l"/>
            <a:pathLst>
              <a:path h="4460568" w="4421538">
                <a:moveTo>
                  <a:pt x="0" y="0"/>
                </a:moveTo>
                <a:lnTo>
                  <a:pt x="4421538" y="0"/>
                </a:lnTo>
                <a:lnTo>
                  <a:pt x="4421538" y="4460568"/>
                </a:lnTo>
                <a:lnTo>
                  <a:pt x="0" y="44605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365152" y="819150"/>
            <a:ext cx="11557696" cy="1425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true">
                <a:solidFill>
                  <a:srgbClr val="593EA1"/>
                </a:solidFill>
                <a:latin typeface="Bubblebody Neue Bold"/>
                <a:ea typeface="Bubblebody Neue Bold"/>
                <a:cs typeface="Bubblebody Neue Bold"/>
                <a:sym typeface="Bubblebody Neue Bold"/>
              </a:rPr>
              <a:t>Données en entrée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466347" y="2945751"/>
            <a:ext cx="8084321" cy="1973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Modèle des sites de fixation sous forme de matrice PFM (Position Frequency Matrix).</a:t>
            </a:r>
          </a:p>
          <a:p>
            <a:pPr algn="l" marL="1209039" indent="-403013" lvl="2">
              <a:lnSpc>
                <a:spcPts val="3919"/>
              </a:lnSpc>
              <a:buFont typeface="Arial"/>
              <a:buChar char="⚬"/>
            </a:pPr>
            <a:r>
              <a:rPr lang="en-US" sz="27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Exemple :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MA0083.3.jaspar pour le facteur SRF.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490115" y="5376531"/>
            <a:ext cx="7202578" cy="1478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Liste d'identifiants GenBank correspondant aux gènes d'intérêt.</a:t>
            </a:r>
          </a:p>
          <a:p>
            <a:pPr algn="l" marL="1209039" indent="-403013" lvl="2">
              <a:lnSpc>
                <a:spcPts val="3919"/>
              </a:lnSpc>
              <a:buFont typeface="Arial"/>
              <a:buChar char="⚬"/>
            </a:pPr>
            <a:r>
              <a:rPr lang="en-US" sz="27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Exemple :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NM_007389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466347" y="7312011"/>
            <a:ext cx="7202578" cy="979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Séquences FASTA téléchargées via NCBI (longueur par défaut 1000 bp).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879076"/>
            <a:ext cx="3437647" cy="1616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true">
                <a:solidFill>
                  <a:srgbClr val="2D8BBA"/>
                </a:solidFill>
                <a:latin typeface="Bubblebody Neue Bold"/>
                <a:ea typeface="Bubblebody Neue Bold"/>
                <a:cs typeface="Bubblebody Neue Bold"/>
                <a:sym typeface="Bubblebody Neue Bold"/>
              </a:rPr>
              <a:t>Matrice JASPAR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5309856"/>
            <a:ext cx="3437647" cy="1616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true">
                <a:solidFill>
                  <a:srgbClr val="2D8BBA"/>
                </a:solidFill>
                <a:latin typeface="Bubblebody Neue Bold"/>
                <a:ea typeface="Bubblebody Neue Bold"/>
                <a:cs typeface="Bubblebody Neue Bold"/>
                <a:sym typeface="Bubblebody Neue Bold"/>
              </a:rPr>
              <a:t>Identifiants mRNA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7245336"/>
            <a:ext cx="3237737" cy="812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true">
                <a:solidFill>
                  <a:srgbClr val="2D8BBA"/>
                </a:solidFill>
                <a:latin typeface="Bubblebody Neue Bold"/>
                <a:ea typeface="Bubblebody Neue Bold"/>
                <a:cs typeface="Bubblebody Neue Bold"/>
                <a:sym typeface="Bubblebody Neue Bold"/>
              </a:rPr>
              <a:t>Promoteurs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74404" y="9158737"/>
            <a:ext cx="3539193" cy="199127"/>
          </a:xfrm>
          <a:custGeom>
            <a:avLst/>
            <a:gdLst/>
            <a:ahLst/>
            <a:cxnLst/>
            <a:rect r="r" b="b" t="t" l="l"/>
            <a:pathLst>
              <a:path h="199127" w="3539193">
                <a:moveTo>
                  <a:pt x="0" y="0"/>
                </a:moveTo>
                <a:lnTo>
                  <a:pt x="3539192" y="0"/>
                </a:lnTo>
                <a:lnTo>
                  <a:pt x="3539192" y="199126"/>
                </a:lnTo>
                <a:lnTo>
                  <a:pt x="0" y="1991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05955" y="-1045531"/>
            <a:ext cx="7315200" cy="3616754"/>
          </a:xfrm>
          <a:custGeom>
            <a:avLst/>
            <a:gdLst/>
            <a:ahLst/>
            <a:cxnLst/>
            <a:rect r="r" b="b" t="t" l="l"/>
            <a:pathLst>
              <a:path h="3616754" w="7315200">
                <a:moveTo>
                  <a:pt x="0" y="0"/>
                </a:moveTo>
                <a:lnTo>
                  <a:pt x="7315200" y="0"/>
                </a:lnTo>
                <a:lnTo>
                  <a:pt x="7315200" y="3616754"/>
                </a:lnTo>
                <a:lnTo>
                  <a:pt x="0" y="36167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957713" y="-495565"/>
            <a:ext cx="5472439" cy="3066788"/>
          </a:xfrm>
          <a:custGeom>
            <a:avLst/>
            <a:gdLst/>
            <a:ahLst/>
            <a:cxnLst/>
            <a:rect r="r" b="b" t="t" l="l"/>
            <a:pathLst>
              <a:path h="3066788" w="5472439">
                <a:moveTo>
                  <a:pt x="0" y="0"/>
                </a:moveTo>
                <a:lnTo>
                  <a:pt x="5472439" y="0"/>
                </a:lnTo>
                <a:lnTo>
                  <a:pt x="5472439" y="3066788"/>
                </a:lnTo>
                <a:lnTo>
                  <a:pt x="0" y="30667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847725"/>
            <a:ext cx="16230600" cy="2479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sz="7000" b="true">
                <a:solidFill>
                  <a:srgbClr val="593EA1"/>
                </a:solidFill>
                <a:latin typeface="Bubblebody Neue Bold"/>
                <a:ea typeface="Bubblebody Neue Bold"/>
                <a:cs typeface="Bubblebody Neue Bold"/>
                <a:sym typeface="Bubblebody Neue Bold"/>
              </a:rPr>
              <a:t>Détection des sites de facteurs de transcription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212931" y="6830576"/>
            <a:ext cx="2973827" cy="2427724"/>
          </a:xfrm>
          <a:custGeom>
            <a:avLst/>
            <a:gdLst/>
            <a:ahLst/>
            <a:cxnLst/>
            <a:rect r="r" b="b" t="t" l="l"/>
            <a:pathLst>
              <a:path h="2427724" w="2973827">
                <a:moveTo>
                  <a:pt x="0" y="0"/>
                </a:moveTo>
                <a:lnTo>
                  <a:pt x="2973827" y="0"/>
                </a:lnTo>
                <a:lnTo>
                  <a:pt x="2973827" y="2427724"/>
                </a:lnTo>
                <a:lnTo>
                  <a:pt x="0" y="24277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64211" y="8044438"/>
            <a:ext cx="1009543" cy="3514233"/>
          </a:xfrm>
          <a:custGeom>
            <a:avLst/>
            <a:gdLst/>
            <a:ahLst/>
            <a:cxnLst/>
            <a:rect r="r" b="b" t="t" l="l"/>
            <a:pathLst>
              <a:path h="3514233" w="1009543">
                <a:moveTo>
                  <a:pt x="0" y="0"/>
                </a:moveTo>
                <a:lnTo>
                  <a:pt x="1009543" y="0"/>
                </a:lnTo>
                <a:lnTo>
                  <a:pt x="1009543" y="3514233"/>
                </a:lnTo>
                <a:lnTo>
                  <a:pt x="0" y="351423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93550" y="3798882"/>
            <a:ext cx="7950450" cy="1023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Extraction des séquences promotrices en amont des gènes cibles.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93550" y="5046136"/>
            <a:ext cx="7202578" cy="1023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Conversion de la matrice PFM en PSSM avec pseudocounts.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93550" y="6292641"/>
            <a:ext cx="7202578" cy="2071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Recherche des occurrences de la PSSM dans chaque séquence promotrice avec un seuil de score (-t).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04439" y="5049311"/>
            <a:ext cx="7202578" cy="1023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Sélection des fenêtres dont le score dépasse un seuil (-s).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04439" y="3798882"/>
            <a:ext cx="7202578" cy="1023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Fenêtre glissante (taille -w) pour identifier les régions riches en sites.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963402"/>
            <a:ext cx="6021488" cy="4735241"/>
            <a:chOff x="0" y="0"/>
            <a:chExt cx="1585906" cy="12471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85906" cy="1247142"/>
            </a:xfrm>
            <a:custGeom>
              <a:avLst/>
              <a:gdLst/>
              <a:ahLst/>
              <a:cxnLst/>
              <a:rect r="r" b="b" t="t" l="l"/>
              <a:pathLst>
                <a:path h="1247142" w="1585906">
                  <a:moveTo>
                    <a:pt x="77143" y="0"/>
                  </a:moveTo>
                  <a:lnTo>
                    <a:pt x="1508764" y="0"/>
                  </a:lnTo>
                  <a:cubicBezTo>
                    <a:pt x="1529223" y="0"/>
                    <a:pt x="1548845" y="8128"/>
                    <a:pt x="1563312" y="22595"/>
                  </a:cubicBezTo>
                  <a:cubicBezTo>
                    <a:pt x="1577779" y="37062"/>
                    <a:pt x="1585906" y="56683"/>
                    <a:pt x="1585906" y="77143"/>
                  </a:cubicBezTo>
                  <a:lnTo>
                    <a:pt x="1585906" y="1169999"/>
                  </a:lnTo>
                  <a:cubicBezTo>
                    <a:pt x="1585906" y="1190458"/>
                    <a:pt x="1577779" y="1210080"/>
                    <a:pt x="1563312" y="1224547"/>
                  </a:cubicBezTo>
                  <a:cubicBezTo>
                    <a:pt x="1548845" y="1239014"/>
                    <a:pt x="1529223" y="1247142"/>
                    <a:pt x="1508764" y="1247142"/>
                  </a:cubicBezTo>
                  <a:lnTo>
                    <a:pt x="77143" y="1247142"/>
                  </a:lnTo>
                  <a:cubicBezTo>
                    <a:pt x="56683" y="1247142"/>
                    <a:pt x="37062" y="1239014"/>
                    <a:pt x="22595" y="1224547"/>
                  </a:cubicBezTo>
                  <a:cubicBezTo>
                    <a:pt x="8128" y="1210080"/>
                    <a:pt x="0" y="1190458"/>
                    <a:pt x="0" y="1169999"/>
                  </a:cubicBezTo>
                  <a:lnTo>
                    <a:pt x="0" y="77143"/>
                  </a:lnTo>
                  <a:cubicBezTo>
                    <a:pt x="0" y="56683"/>
                    <a:pt x="8128" y="37062"/>
                    <a:pt x="22595" y="22595"/>
                  </a:cubicBezTo>
                  <a:cubicBezTo>
                    <a:pt x="37062" y="8128"/>
                    <a:pt x="56683" y="0"/>
                    <a:pt x="77143" y="0"/>
                  </a:cubicBezTo>
                  <a:close/>
                </a:path>
              </a:pathLst>
            </a:custGeom>
            <a:solidFill>
              <a:srgbClr val="593EA1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85906" cy="12852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716840" y="2963623"/>
            <a:ext cx="4673262" cy="4735241"/>
            <a:chOff x="0" y="0"/>
            <a:chExt cx="1230818" cy="12471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30818" cy="1247142"/>
            </a:xfrm>
            <a:custGeom>
              <a:avLst/>
              <a:gdLst/>
              <a:ahLst/>
              <a:cxnLst/>
              <a:rect r="r" b="b" t="t" l="l"/>
              <a:pathLst>
                <a:path h="1247142" w="1230818">
                  <a:moveTo>
                    <a:pt x="99398" y="0"/>
                  </a:moveTo>
                  <a:lnTo>
                    <a:pt x="1131420" y="0"/>
                  </a:lnTo>
                  <a:cubicBezTo>
                    <a:pt x="1157782" y="0"/>
                    <a:pt x="1183064" y="10472"/>
                    <a:pt x="1201705" y="29113"/>
                  </a:cubicBezTo>
                  <a:cubicBezTo>
                    <a:pt x="1220346" y="47754"/>
                    <a:pt x="1230818" y="73036"/>
                    <a:pt x="1230818" y="99398"/>
                  </a:cubicBezTo>
                  <a:lnTo>
                    <a:pt x="1230818" y="1147743"/>
                  </a:lnTo>
                  <a:cubicBezTo>
                    <a:pt x="1230818" y="1174105"/>
                    <a:pt x="1220346" y="1199388"/>
                    <a:pt x="1201705" y="1218028"/>
                  </a:cubicBezTo>
                  <a:cubicBezTo>
                    <a:pt x="1183064" y="1236669"/>
                    <a:pt x="1157782" y="1247142"/>
                    <a:pt x="1131420" y="1247142"/>
                  </a:cubicBezTo>
                  <a:lnTo>
                    <a:pt x="99398" y="1247142"/>
                  </a:lnTo>
                  <a:cubicBezTo>
                    <a:pt x="73036" y="1247142"/>
                    <a:pt x="47754" y="1236669"/>
                    <a:pt x="29113" y="1218028"/>
                  </a:cubicBezTo>
                  <a:cubicBezTo>
                    <a:pt x="10472" y="1199388"/>
                    <a:pt x="0" y="1174105"/>
                    <a:pt x="0" y="1147743"/>
                  </a:cubicBezTo>
                  <a:lnTo>
                    <a:pt x="0" y="99398"/>
                  </a:lnTo>
                  <a:cubicBezTo>
                    <a:pt x="0" y="73036"/>
                    <a:pt x="10472" y="47754"/>
                    <a:pt x="29113" y="29113"/>
                  </a:cubicBezTo>
                  <a:cubicBezTo>
                    <a:pt x="47754" y="10472"/>
                    <a:pt x="73036" y="0"/>
                    <a:pt x="99398" y="0"/>
                  </a:cubicBezTo>
                  <a:close/>
                </a:path>
              </a:pathLst>
            </a:custGeom>
            <a:solidFill>
              <a:srgbClr val="593EA1"/>
            </a:solidFill>
            <a:ln w="38100" cap="rnd">
              <a:solidFill>
                <a:srgbClr val="593EA1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30818" cy="12852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7050188" y="5331022"/>
            <a:ext cx="3003283" cy="2367842"/>
          </a:xfrm>
          <a:prstGeom prst="line">
            <a:avLst/>
          </a:prstGeom>
          <a:ln cap="flat" w="66675">
            <a:solidFill>
              <a:srgbClr val="593EA1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2390103" y="5331244"/>
            <a:ext cx="2243225" cy="3848319"/>
          </a:xfrm>
          <a:prstGeom prst="line">
            <a:avLst/>
          </a:prstGeom>
          <a:ln cap="flat" w="66675">
            <a:solidFill>
              <a:srgbClr val="593EA1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-5820136">
            <a:off x="15909502" y="-889967"/>
            <a:ext cx="3597844" cy="4114800"/>
          </a:xfrm>
          <a:custGeom>
            <a:avLst/>
            <a:gdLst/>
            <a:ahLst/>
            <a:cxnLst/>
            <a:rect r="r" b="b" t="t" l="l"/>
            <a:pathLst>
              <a:path h="4114800" w="3597844">
                <a:moveTo>
                  <a:pt x="0" y="0"/>
                </a:moveTo>
                <a:lnTo>
                  <a:pt x="3597844" y="0"/>
                </a:lnTo>
                <a:lnTo>
                  <a:pt x="359784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-2736219" y="-365961"/>
            <a:ext cx="5472439" cy="3066788"/>
          </a:xfrm>
          <a:custGeom>
            <a:avLst/>
            <a:gdLst/>
            <a:ahLst/>
            <a:cxnLst/>
            <a:rect r="r" b="b" t="t" l="l"/>
            <a:pathLst>
              <a:path h="3066788" w="5472439">
                <a:moveTo>
                  <a:pt x="5472438" y="0"/>
                </a:moveTo>
                <a:lnTo>
                  <a:pt x="0" y="0"/>
                </a:lnTo>
                <a:lnTo>
                  <a:pt x="0" y="3066788"/>
                </a:lnTo>
                <a:lnTo>
                  <a:pt x="5472438" y="3066788"/>
                </a:lnTo>
                <a:lnTo>
                  <a:pt x="547243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831580" y="3207477"/>
            <a:ext cx="3603496" cy="5972085"/>
          </a:xfrm>
          <a:custGeom>
            <a:avLst/>
            <a:gdLst/>
            <a:ahLst/>
            <a:cxnLst/>
            <a:rect r="r" b="b" t="t" l="l"/>
            <a:pathLst>
              <a:path h="5972085" w="3603496">
                <a:moveTo>
                  <a:pt x="0" y="0"/>
                </a:moveTo>
                <a:lnTo>
                  <a:pt x="3603495" y="0"/>
                </a:lnTo>
                <a:lnTo>
                  <a:pt x="3603495" y="5972086"/>
                </a:lnTo>
                <a:lnTo>
                  <a:pt x="0" y="59720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779134" y="2662727"/>
            <a:ext cx="3521856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4EB1C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Format JSON Exporté  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365152" y="819150"/>
            <a:ext cx="11557696" cy="1425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true">
                <a:solidFill>
                  <a:srgbClr val="593EA1"/>
                </a:solidFill>
                <a:latin typeface="Bubblebody Neue Bold"/>
                <a:ea typeface="Bubblebody Neue Bold"/>
                <a:cs typeface="Bubblebody Neue Bold"/>
                <a:sym typeface="Bubblebody Neue Bold"/>
              </a:rPr>
              <a:t>Structure des résultats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018789" y="3363061"/>
            <a:ext cx="3964474" cy="310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Les sites détectés sont sauvegardés en JSON avec :</a:t>
            </a:r>
          </a:p>
          <a:p>
            <a:pPr algn="l">
              <a:lnSpc>
                <a:spcPts val="3079"/>
              </a:lnSpc>
            </a:pP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Position du site dans la séquence.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Score de correspondance avec la matrice PSSM.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Séquence exacte du site.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34974" y="3363061"/>
            <a:ext cx="5582318" cy="1934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Sortie standard :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Fenêtres : 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numéro TF [start:end] score occurrences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Occurrences : 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num_fenêtre mRNA TF position score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34974" y="5268374"/>
            <a:ext cx="1986658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Exemple 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61873" y="5754444"/>
            <a:ext cx="4908249" cy="154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0 SRF [-256:380] -176.25 11    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  <a:r>
              <a:rPr lang="en-US" sz="2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SRF [-978:-578] -11.05 1        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0 NM_007389 SRF -156 -18.77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 NM_003279 SRF -978 -11.05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7374404" y="9158737"/>
            <a:ext cx="3539193" cy="199127"/>
          </a:xfrm>
          <a:custGeom>
            <a:avLst/>
            <a:gdLst/>
            <a:ahLst/>
            <a:cxnLst/>
            <a:rect r="r" b="b" t="t" l="l"/>
            <a:pathLst>
              <a:path h="199127" w="3539193">
                <a:moveTo>
                  <a:pt x="0" y="0"/>
                </a:moveTo>
                <a:lnTo>
                  <a:pt x="3539192" y="0"/>
                </a:lnTo>
                <a:lnTo>
                  <a:pt x="3539192" y="199126"/>
                </a:lnTo>
                <a:lnTo>
                  <a:pt x="0" y="19912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87924" y="2826562"/>
            <a:ext cx="3539193" cy="199127"/>
          </a:xfrm>
          <a:custGeom>
            <a:avLst/>
            <a:gdLst/>
            <a:ahLst/>
            <a:cxnLst/>
            <a:rect r="r" b="b" t="t" l="l"/>
            <a:pathLst>
              <a:path h="199127" w="3539193">
                <a:moveTo>
                  <a:pt x="0" y="0"/>
                </a:moveTo>
                <a:lnTo>
                  <a:pt x="3539193" y="0"/>
                </a:lnTo>
                <a:lnTo>
                  <a:pt x="3539193" y="199126"/>
                </a:lnTo>
                <a:lnTo>
                  <a:pt x="0" y="1991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64644" y="8780585"/>
            <a:ext cx="3539193" cy="199127"/>
          </a:xfrm>
          <a:custGeom>
            <a:avLst/>
            <a:gdLst/>
            <a:ahLst/>
            <a:cxnLst/>
            <a:rect r="r" b="b" t="t" l="l"/>
            <a:pathLst>
              <a:path h="199127" w="3539193">
                <a:moveTo>
                  <a:pt x="0" y="0"/>
                </a:moveTo>
                <a:lnTo>
                  <a:pt x="3539193" y="0"/>
                </a:lnTo>
                <a:lnTo>
                  <a:pt x="3539193" y="199127"/>
                </a:lnTo>
                <a:lnTo>
                  <a:pt x="0" y="199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305955" y="-1045531"/>
            <a:ext cx="7315200" cy="3616754"/>
          </a:xfrm>
          <a:custGeom>
            <a:avLst/>
            <a:gdLst/>
            <a:ahLst/>
            <a:cxnLst/>
            <a:rect r="r" b="b" t="t" l="l"/>
            <a:pathLst>
              <a:path h="3616754" w="7315200">
                <a:moveTo>
                  <a:pt x="0" y="0"/>
                </a:moveTo>
                <a:lnTo>
                  <a:pt x="7315200" y="0"/>
                </a:lnTo>
                <a:lnTo>
                  <a:pt x="7315200" y="3616754"/>
                </a:lnTo>
                <a:lnTo>
                  <a:pt x="0" y="36167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957713" y="-495565"/>
            <a:ext cx="5472439" cy="3066788"/>
          </a:xfrm>
          <a:custGeom>
            <a:avLst/>
            <a:gdLst/>
            <a:ahLst/>
            <a:cxnLst/>
            <a:rect r="r" b="b" t="t" l="l"/>
            <a:pathLst>
              <a:path h="3066788" w="5472439">
                <a:moveTo>
                  <a:pt x="0" y="0"/>
                </a:moveTo>
                <a:lnTo>
                  <a:pt x="5472439" y="0"/>
                </a:lnTo>
                <a:lnTo>
                  <a:pt x="5472439" y="3066788"/>
                </a:lnTo>
                <a:lnTo>
                  <a:pt x="0" y="30667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78157" y="5229313"/>
            <a:ext cx="8316754" cy="2957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593EA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test_find_cds :</a:t>
            </a:r>
            <a:r>
              <a:rPr lang="en-US" sz="2799">
                <a:solidFill>
                  <a:srgbClr val="593EA1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Vérifie que les CDS sont correctement identifiés.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593EA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test_</a:t>
            </a:r>
            <a:r>
              <a:rPr lang="en-US" b="true" sz="2799">
                <a:solidFill>
                  <a:srgbClr val="593EA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upstream_gene_seq :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Vérifie que les séquences amont sont bien récupérées.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593EA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test_</a:t>
            </a:r>
            <a:r>
              <a:rPr lang="en-US" b="true" sz="2799">
                <a:solidFill>
                  <a:srgbClr val="593EA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pwm2pssm :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Vérifie que les matrices PFM sont correctement converties en PSSM.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640464" y="6274424"/>
            <a:ext cx="3812032" cy="3472761"/>
          </a:xfrm>
          <a:custGeom>
            <a:avLst/>
            <a:gdLst/>
            <a:ahLst/>
            <a:cxnLst/>
            <a:rect r="r" b="b" t="t" l="l"/>
            <a:pathLst>
              <a:path h="3472761" w="3812032">
                <a:moveTo>
                  <a:pt x="0" y="0"/>
                </a:moveTo>
                <a:lnTo>
                  <a:pt x="3812032" y="0"/>
                </a:lnTo>
                <a:lnTo>
                  <a:pt x="3812032" y="3472761"/>
                </a:lnTo>
                <a:lnTo>
                  <a:pt x="0" y="34727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365152" y="819150"/>
            <a:ext cx="11557696" cy="1425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true">
                <a:solidFill>
                  <a:srgbClr val="593EA1"/>
                </a:solidFill>
                <a:latin typeface="Bubblebody Neue Bold"/>
                <a:ea typeface="Bubblebody Neue Bold"/>
                <a:cs typeface="Bubblebody Neue Bold"/>
                <a:sym typeface="Bubblebody Neue Bold"/>
              </a:rPr>
              <a:t>Validation des fonctions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78157" y="3107515"/>
            <a:ext cx="7504793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Chaque fonction a été testée individuellement avec des entrées simulées et réelles.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87924" y="5078057"/>
            <a:ext cx="7471376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Messages d’erreur pour séquences manquantes ou id incorrecte.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79611" y="4533539"/>
            <a:ext cx="2654299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Exemples 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87924" y="3652032"/>
            <a:ext cx="7471376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Vérification manuelle des plages (ex. -256 dans [-256:380]).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5460378" y="8293912"/>
            <a:ext cx="3597844" cy="4114800"/>
          </a:xfrm>
          <a:custGeom>
            <a:avLst/>
            <a:gdLst/>
            <a:ahLst/>
            <a:cxnLst/>
            <a:rect r="r" b="b" t="t" l="l"/>
            <a:pathLst>
              <a:path h="4114800" w="3597844">
                <a:moveTo>
                  <a:pt x="0" y="0"/>
                </a:moveTo>
                <a:lnTo>
                  <a:pt x="3597844" y="0"/>
                </a:lnTo>
                <a:lnTo>
                  <a:pt x="359784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70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1576" y="8019998"/>
            <a:ext cx="3539193" cy="199127"/>
          </a:xfrm>
          <a:custGeom>
            <a:avLst/>
            <a:gdLst/>
            <a:ahLst/>
            <a:cxnLst/>
            <a:rect r="r" b="b" t="t" l="l"/>
            <a:pathLst>
              <a:path h="199127" w="3539193">
                <a:moveTo>
                  <a:pt x="0" y="0"/>
                </a:moveTo>
                <a:lnTo>
                  <a:pt x="3539193" y="0"/>
                </a:lnTo>
                <a:lnTo>
                  <a:pt x="3539193" y="199127"/>
                </a:lnTo>
                <a:lnTo>
                  <a:pt x="0" y="199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820136">
            <a:off x="15909502" y="-889967"/>
            <a:ext cx="3597844" cy="4114800"/>
          </a:xfrm>
          <a:custGeom>
            <a:avLst/>
            <a:gdLst/>
            <a:ahLst/>
            <a:cxnLst/>
            <a:rect r="r" b="b" t="t" l="l"/>
            <a:pathLst>
              <a:path h="4114800" w="3597844">
                <a:moveTo>
                  <a:pt x="0" y="0"/>
                </a:moveTo>
                <a:lnTo>
                  <a:pt x="3597844" y="0"/>
                </a:lnTo>
                <a:lnTo>
                  <a:pt x="359784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2736219" y="-365961"/>
            <a:ext cx="5472439" cy="3066788"/>
          </a:xfrm>
          <a:custGeom>
            <a:avLst/>
            <a:gdLst/>
            <a:ahLst/>
            <a:cxnLst/>
            <a:rect r="r" b="b" t="t" l="l"/>
            <a:pathLst>
              <a:path h="3066788" w="5472439">
                <a:moveTo>
                  <a:pt x="5472438" y="0"/>
                </a:moveTo>
                <a:lnTo>
                  <a:pt x="0" y="0"/>
                </a:lnTo>
                <a:lnTo>
                  <a:pt x="0" y="3066788"/>
                </a:lnTo>
                <a:lnTo>
                  <a:pt x="5472438" y="3066788"/>
                </a:lnTo>
                <a:lnTo>
                  <a:pt x="547243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132293">
            <a:off x="15029204" y="7443739"/>
            <a:ext cx="1428958" cy="4114800"/>
          </a:xfrm>
          <a:custGeom>
            <a:avLst/>
            <a:gdLst/>
            <a:ahLst/>
            <a:cxnLst/>
            <a:rect r="r" b="b" t="t" l="l"/>
            <a:pathLst>
              <a:path h="4114800" w="1428958">
                <a:moveTo>
                  <a:pt x="0" y="0"/>
                </a:moveTo>
                <a:lnTo>
                  <a:pt x="1428958" y="0"/>
                </a:lnTo>
                <a:lnTo>
                  <a:pt x="14289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64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397711" y="7793204"/>
            <a:ext cx="2549513" cy="2331646"/>
          </a:xfrm>
          <a:custGeom>
            <a:avLst/>
            <a:gdLst/>
            <a:ahLst/>
            <a:cxnLst/>
            <a:rect r="r" b="b" t="t" l="l"/>
            <a:pathLst>
              <a:path h="2331646" w="2549513">
                <a:moveTo>
                  <a:pt x="0" y="0"/>
                </a:moveTo>
                <a:lnTo>
                  <a:pt x="2549513" y="0"/>
                </a:lnTo>
                <a:lnTo>
                  <a:pt x="2549513" y="2331646"/>
                </a:lnTo>
                <a:lnTo>
                  <a:pt x="0" y="233164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91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365152" y="819150"/>
            <a:ext cx="11557696" cy="1425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true">
                <a:solidFill>
                  <a:srgbClr val="593EA1"/>
                </a:solidFill>
                <a:latin typeface="Bubblebody Neue Bold"/>
                <a:ea typeface="Bubblebody Neue Bold"/>
                <a:cs typeface="Bubblebody Neue Bold"/>
                <a:sym typeface="Bubblebody Neue Bold"/>
              </a:rPr>
              <a:t>Choix des paramètres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683660"/>
            <a:ext cx="7864138" cy="246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2D8BB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-t (threshold, seuil de score) : 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Définit la valeur minimale pour considérer un site comme significatif.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Plus le seuil est bas, plus il y aura de faux positifs.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05630" y="4254817"/>
            <a:ext cx="7853670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2D8BB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-s (Seuil de Fenêtre) :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Permet de filtrer les fenêtres non pertinentes.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5323254"/>
            <a:ext cx="7864138" cy="246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2D8BB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-l (length, taille de la séquence promotrice) :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Séquence située avant le site d'initiation de la transcription.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Doit être assez longue pour inclure tous les sites potentiels (1000 par défaut)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05630" y="2683660"/>
            <a:ext cx="7853670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2D8BB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-w (window, taille de la fenêtre de score) :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Définit la taille du segment d’ADN testé.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Exemple : 40 bases pour une analyse fine.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05630" y="5825974"/>
            <a:ext cx="7853670" cy="196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2D8BB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-p (Pseudo-Poids) :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Ajoute une petite valeur pour éviter les zéros dans les matrices.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Typiquement défini à 0.1.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8742" y="6761714"/>
            <a:ext cx="3539193" cy="199127"/>
          </a:xfrm>
          <a:custGeom>
            <a:avLst/>
            <a:gdLst/>
            <a:ahLst/>
            <a:cxnLst/>
            <a:rect r="r" b="b" t="t" l="l"/>
            <a:pathLst>
              <a:path h="199127" w="3539193">
                <a:moveTo>
                  <a:pt x="0" y="0"/>
                </a:moveTo>
                <a:lnTo>
                  <a:pt x="3539193" y="0"/>
                </a:lnTo>
                <a:lnTo>
                  <a:pt x="3539193" y="199126"/>
                </a:lnTo>
                <a:lnTo>
                  <a:pt x="0" y="1991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05955" y="-1045531"/>
            <a:ext cx="7315200" cy="3616754"/>
          </a:xfrm>
          <a:custGeom>
            <a:avLst/>
            <a:gdLst/>
            <a:ahLst/>
            <a:cxnLst/>
            <a:rect r="r" b="b" t="t" l="l"/>
            <a:pathLst>
              <a:path h="3616754" w="7315200">
                <a:moveTo>
                  <a:pt x="0" y="0"/>
                </a:moveTo>
                <a:lnTo>
                  <a:pt x="7315200" y="0"/>
                </a:lnTo>
                <a:lnTo>
                  <a:pt x="7315200" y="3616754"/>
                </a:lnTo>
                <a:lnTo>
                  <a:pt x="0" y="36167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957713" y="-495565"/>
            <a:ext cx="5472439" cy="3066788"/>
          </a:xfrm>
          <a:custGeom>
            <a:avLst/>
            <a:gdLst/>
            <a:ahLst/>
            <a:cxnLst/>
            <a:rect r="r" b="b" t="t" l="l"/>
            <a:pathLst>
              <a:path h="3066788" w="5472439">
                <a:moveTo>
                  <a:pt x="0" y="0"/>
                </a:moveTo>
                <a:lnTo>
                  <a:pt x="5472439" y="0"/>
                </a:lnTo>
                <a:lnTo>
                  <a:pt x="5472439" y="3066788"/>
                </a:lnTo>
                <a:lnTo>
                  <a:pt x="0" y="30667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069448" y="6295661"/>
            <a:ext cx="3853400" cy="3068708"/>
          </a:xfrm>
          <a:custGeom>
            <a:avLst/>
            <a:gdLst/>
            <a:ahLst/>
            <a:cxnLst/>
            <a:rect r="r" b="b" t="t" l="l"/>
            <a:pathLst>
              <a:path h="3068708" w="3853400">
                <a:moveTo>
                  <a:pt x="0" y="0"/>
                </a:moveTo>
                <a:lnTo>
                  <a:pt x="3853400" y="0"/>
                </a:lnTo>
                <a:lnTo>
                  <a:pt x="3853400" y="3068708"/>
                </a:lnTo>
                <a:lnTo>
                  <a:pt x="0" y="30687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365152" y="819150"/>
            <a:ext cx="11557696" cy="1425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true">
                <a:solidFill>
                  <a:srgbClr val="593EA1"/>
                </a:solidFill>
                <a:latin typeface="Bubblebody Neue Bold"/>
                <a:ea typeface="Bubblebody Neue Bold"/>
                <a:cs typeface="Bubblebody Neue Bold"/>
                <a:sym typeface="Bubblebody Neue Bold"/>
              </a:rPr>
              <a:t>Utilité du programme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48742" y="2994258"/>
            <a:ext cx="7795258" cy="2957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2D8BB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Applications Biologiques</a:t>
            </a:r>
            <a:r>
              <a:rPr lang="en-US" sz="2799" b="true">
                <a:solidFill>
                  <a:srgbClr val="2D8BB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: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Identification rapide des régions régulatrices potentielles chez différents organismes.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Aide à la compréhension des mécanismes de régulation génétique.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46358" y="2994258"/>
            <a:ext cx="6779435" cy="2957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2D8BB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Avantages du programme</a:t>
            </a:r>
            <a:r>
              <a:rPr lang="en-US" sz="2799" b="true">
                <a:solidFill>
                  <a:srgbClr val="2D8BB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: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Au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tomatisation de la détection.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Interface simple pour l’analyse des séquences.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lexibilité avec des paramètres ajustables.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5400000">
            <a:off x="3953872" y="5941408"/>
            <a:ext cx="1868126" cy="4566531"/>
          </a:xfrm>
          <a:custGeom>
            <a:avLst/>
            <a:gdLst/>
            <a:ahLst/>
            <a:cxnLst/>
            <a:rect r="r" b="b" t="t" l="l"/>
            <a:pathLst>
              <a:path h="4566531" w="1868126">
                <a:moveTo>
                  <a:pt x="0" y="0"/>
                </a:moveTo>
                <a:lnTo>
                  <a:pt x="1868126" y="0"/>
                </a:lnTo>
                <a:lnTo>
                  <a:pt x="1868126" y="4566531"/>
                </a:lnTo>
                <a:lnTo>
                  <a:pt x="0" y="456653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4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74404" y="9158737"/>
            <a:ext cx="3539193" cy="199127"/>
          </a:xfrm>
          <a:custGeom>
            <a:avLst/>
            <a:gdLst/>
            <a:ahLst/>
            <a:cxnLst/>
            <a:rect r="r" b="b" t="t" l="l"/>
            <a:pathLst>
              <a:path h="199127" w="3539193">
                <a:moveTo>
                  <a:pt x="0" y="0"/>
                </a:moveTo>
                <a:lnTo>
                  <a:pt x="3539192" y="0"/>
                </a:lnTo>
                <a:lnTo>
                  <a:pt x="3539192" y="199126"/>
                </a:lnTo>
                <a:lnTo>
                  <a:pt x="0" y="1991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820136">
            <a:off x="15909502" y="-889967"/>
            <a:ext cx="3597844" cy="4114800"/>
          </a:xfrm>
          <a:custGeom>
            <a:avLst/>
            <a:gdLst/>
            <a:ahLst/>
            <a:cxnLst/>
            <a:rect r="r" b="b" t="t" l="l"/>
            <a:pathLst>
              <a:path h="4114800" w="3597844">
                <a:moveTo>
                  <a:pt x="0" y="0"/>
                </a:moveTo>
                <a:lnTo>
                  <a:pt x="3597844" y="0"/>
                </a:lnTo>
                <a:lnTo>
                  <a:pt x="359784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2736219" y="-365961"/>
            <a:ext cx="5472439" cy="3066788"/>
          </a:xfrm>
          <a:custGeom>
            <a:avLst/>
            <a:gdLst/>
            <a:ahLst/>
            <a:cxnLst/>
            <a:rect r="r" b="b" t="t" l="l"/>
            <a:pathLst>
              <a:path h="3066788" w="5472439">
                <a:moveTo>
                  <a:pt x="5472438" y="0"/>
                </a:moveTo>
                <a:lnTo>
                  <a:pt x="0" y="0"/>
                </a:lnTo>
                <a:lnTo>
                  <a:pt x="0" y="3066788"/>
                </a:lnTo>
                <a:lnTo>
                  <a:pt x="5472438" y="3066788"/>
                </a:lnTo>
                <a:lnTo>
                  <a:pt x="547243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50801" y="2370771"/>
            <a:ext cx="9315514" cy="6575048"/>
          </a:xfrm>
          <a:custGeom>
            <a:avLst/>
            <a:gdLst/>
            <a:ahLst/>
            <a:cxnLst/>
            <a:rect r="r" b="b" t="t" l="l"/>
            <a:pathLst>
              <a:path h="6575048" w="9315514">
                <a:moveTo>
                  <a:pt x="0" y="0"/>
                </a:moveTo>
                <a:lnTo>
                  <a:pt x="9315515" y="0"/>
                </a:lnTo>
                <a:lnTo>
                  <a:pt x="9315515" y="6575048"/>
                </a:lnTo>
                <a:lnTo>
                  <a:pt x="0" y="657504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6392" t="0" r="-25702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365152" y="819150"/>
            <a:ext cx="11557696" cy="1425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true">
                <a:solidFill>
                  <a:srgbClr val="593EA1"/>
                </a:solidFill>
                <a:latin typeface="Bubblebody Neue Bold"/>
                <a:ea typeface="Bubblebody Neue Bold"/>
                <a:cs typeface="Bubblebody Neue Bold"/>
                <a:sym typeface="Bubblebody Neue Bold"/>
              </a:rPr>
              <a:t>Conclusion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715824" y="3563702"/>
            <a:ext cx="5986793" cy="3652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Extraction automatique des séquences promotrices.</a:t>
            </a:r>
          </a:p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Identification des sites potentiels de liaison des facteurs de transcription.</a:t>
            </a:r>
          </a:p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Génération de résultats exploitables en recherche.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8CE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81631" y="7653883"/>
            <a:ext cx="3644996" cy="3754209"/>
          </a:xfrm>
          <a:custGeom>
            <a:avLst/>
            <a:gdLst/>
            <a:ahLst/>
            <a:cxnLst/>
            <a:rect r="r" b="b" t="t" l="l"/>
            <a:pathLst>
              <a:path h="3754209" w="3644996">
                <a:moveTo>
                  <a:pt x="0" y="0"/>
                </a:moveTo>
                <a:lnTo>
                  <a:pt x="3644996" y="0"/>
                </a:lnTo>
                <a:lnTo>
                  <a:pt x="3644996" y="3754209"/>
                </a:lnTo>
                <a:lnTo>
                  <a:pt x="0" y="37542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300606" y="327725"/>
            <a:ext cx="5472439" cy="3066788"/>
          </a:xfrm>
          <a:custGeom>
            <a:avLst/>
            <a:gdLst/>
            <a:ahLst/>
            <a:cxnLst/>
            <a:rect r="r" b="b" t="t" l="l"/>
            <a:pathLst>
              <a:path h="3066788" w="5472439">
                <a:moveTo>
                  <a:pt x="0" y="0"/>
                </a:moveTo>
                <a:lnTo>
                  <a:pt x="5472439" y="0"/>
                </a:lnTo>
                <a:lnTo>
                  <a:pt x="5472439" y="3066787"/>
                </a:lnTo>
                <a:lnTo>
                  <a:pt x="0" y="30667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523081" y="6556075"/>
            <a:ext cx="5472439" cy="3066788"/>
          </a:xfrm>
          <a:custGeom>
            <a:avLst/>
            <a:gdLst/>
            <a:ahLst/>
            <a:cxnLst/>
            <a:rect r="r" b="b" t="t" l="l"/>
            <a:pathLst>
              <a:path h="3066788" w="5472439">
                <a:moveTo>
                  <a:pt x="0" y="0"/>
                </a:moveTo>
                <a:lnTo>
                  <a:pt x="5472438" y="0"/>
                </a:lnTo>
                <a:lnTo>
                  <a:pt x="5472438" y="3066788"/>
                </a:lnTo>
                <a:lnTo>
                  <a:pt x="0" y="30667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014971" y="148916"/>
            <a:ext cx="3986689" cy="4861816"/>
          </a:xfrm>
          <a:custGeom>
            <a:avLst/>
            <a:gdLst/>
            <a:ahLst/>
            <a:cxnLst/>
            <a:rect r="r" b="b" t="t" l="l"/>
            <a:pathLst>
              <a:path h="4861816" w="3986689">
                <a:moveTo>
                  <a:pt x="0" y="0"/>
                </a:moveTo>
                <a:lnTo>
                  <a:pt x="3986689" y="0"/>
                </a:lnTo>
                <a:lnTo>
                  <a:pt x="3986689" y="4861816"/>
                </a:lnTo>
                <a:lnTo>
                  <a:pt x="0" y="48618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345078" y="-1908484"/>
            <a:ext cx="3597844" cy="4114800"/>
          </a:xfrm>
          <a:custGeom>
            <a:avLst/>
            <a:gdLst/>
            <a:ahLst/>
            <a:cxnLst/>
            <a:rect r="r" b="b" t="t" l="l"/>
            <a:pathLst>
              <a:path h="4114800" w="3597844">
                <a:moveTo>
                  <a:pt x="0" y="0"/>
                </a:moveTo>
                <a:lnTo>
                  <a:pt x="3597844" y="0"/>
                </a:lnTo>
                <a:lnTo>
                  <a:pt x="359784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98375" y="5884843"/>
            <a:ext cx="3373457" cy="3373457"/>
          </a:xfrm>
          <a:custGeom>
            <a:avLst/>
            <a:gdLst/>
            <a:ahLst/>
            <a:cxnLst/>
            <a:rect r="r" b="b" t="t" l="l"/>
            <a:pathLst>
              <a:path h="3373457" w="3373457">
                <a:moveTo>
                  <a:pt x="0" y="0"/>
                </a:moveTo>
                <a:lnTo>
                  <a:pt x="3373458" y="0"/>
                </a:lnTo>
                <a:lnTo>
                  <a:pt x="3373458" y="3373457"/>
                </a:lnTo>
                <a:lnTo>
                  <a:pt x="0" y="337345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017846" y="4359832"/>
            <a:ext cx="12252309" cy="1853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58"/>
              </a:lnSpc>
            </a:pPr>
            <a:r>
              <a:rPr lang="en-US" sz="14041">
                <a:solidFill>
                  <a:srgbClr val="FFFDF9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MERCI !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8CE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17846" y="3692799"/>
            <a:ext cx="12252309" cy="3168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49"/>
              </a:lnSpc>
            </a:pPr>
            <a:r>
              <a:rPr lang="en-US" sz="12741">
                <a:solidFill>
                  <a:srgbClr val="FFFDF9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QUESTIONS &amp; RÉPONSES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1300606" y="327725"/>
            <a:ext cx="5472439" cy="3066788"/>
          </a:xfrm>
          <a:custGeom>
            <a:avLst/>
            <a:gdLst/>
            <a:ahLst/>
            <a:cxnLst/>
            <a:rect r="r" b="b" t="t" l="l"/>
            <a:pathLst>
              <a:path h="3066788" w="5472439">
                <a:moveTo>
                  <a:pt x="0" y="0"/>
                </a:moveTo>
                <a:lnTo>
                  <a:pt x="5472439" y="0"/>
                </a:lnTo>
                <a:lnTo>
                  <a:pt x="5472439" y="3066787"/>
                </a:lnTo>
                <a:lnTo>
                  <a:pt x="0" y="30667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523081" y="6556075"/>
            <a:ext cx="5472439" cy="3066788"/>
          </a:xfrm>
          <a:custGeom>
            <a:avLst/>
            <a:gdLst/>
            <a:ahLst/>
            <a:cxnLst/>
            <a:rect r="r" b="b" t="t" l="l"/>
            <a:pathLst>
              <a:path h="3066788" w="5472439">
                <a:moveTo>
                  <a:pt x="0" y="0"/>
                </a:moveTo>
                <a:lnTo>
                  <a:pt x="5472438" y="0"/>
                </a:lnTo>
                <a:lnTo>
                  <a:pt x="5472438" y="3066788"/>
                </a:lnTo>
                <a:lnTo>
                  <a:pt x="0" y="30667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26728" y="554725"/>
            <a:ext cx="3222048" cy="2612788"/>
          </a:xfrm>
          <a:custGeom>
            <a:avLst/>
            <a:gdLst/>
            <a:ahLst/>
            <a:cxnLst/>
            <a:rect r="r" b="b" t="t" l="l"/>
            <a:pathLst>
              <a:path h="2612788" w="3222048">
                <a:moveTo>
                  <a:pt x="0" y="0"/>
                </a:moveTo>
                <a:lnTo>
                  <a:pt x="3222048" y="0"/>
                </a:lnTo>
                <a:lnTo>
                  <a:pt x="3222048" y="2612788"/>
                </a:lnTo>
                <a:lnTo>
                  <a:pt x="0" y="26127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80983" y="7242081"/>
            <a:ext cx="4236395" cy="3389116"/>
          </a:xfrm>
          <a:custGeom>
            <a:avLst/>
            <a:gdLst/>
            <a:ahLst/>
            <a:cxnLst/>
            <a:rect r="r" b="b" t="t" l="l"/>
            <a:pathLst>
              <a:path h="3389116" w="4236395">
                <a:moveTo>
                  <a:pt x="0" y="0"/>
                </a:moveTo>
                <a:lnTo>
                  <a:pt x="4236395" y="0"/>
                </a:lnTo>
                <a:lnTo>
                  <a:pt x="4236395" y="3389117"/>
                </a:lnTo>
                <a:lnTo>
                  <a:pt x="0" y="33891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2971403">
            <a:off x="9818450" y="-823349"/>
            <a:ext cx="1428958" cy="4114800"/>
          </a:xfrm>
          <a:custGeom>
            <a:avLst/>
            <a:gdLst/>
            <a:ahLst/>
            <a:cxnLst/>
            <a:rect r="r" b="b" t="t" l="l"/>
            <a:pathLst>
              <a:path h="4114800" w="1428958">
                <a:moveTo>
                  <a:pt x="0" y="0"/>
                </a:moveTo>
                <a:lnTo>
                  <a:pt x="1428958" y="0"/>
                </a:lnTo>
                <a:lnTo>
                  <a:pt x="14289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68236" y="5959837"/>
            <a:ext cx="2878508" cy="2564489"/>
          </a:xfrm>
          <a:custGeom>
            <a:avLst/>
            <a:gdLst/>
            <a:ahLst/>
            <a:cxnLst/>
            <a:rect r="r" b="b" t="t" l="l"/>
            <a:pathLst>
              <a:path h="2564489" w="2878508">
                <a:moveTo>
                  <a:pt x="0" y="0"/>
                </a:moveTo>
                <a:lnTo>
                  <a:pt x="2878509" y="0"/>
                </a:lnTo>
                <a:lnTo>
                  <a:pt x="2878509" y="2564489"/>
                </a:lnTo>
                <a:lnTo>
                  <a:pt x="0" y="256448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83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DAGjkUA9mmQ</dc:identifier>
  <dcterms:modified xsi:type="dcterms:W3CDTF">2011-08-01T06:04:30Z</dcterms:modified>
  <cp:revision>1</cp:revision>
  <dc:title>Purple Green Abstract Professional Research Presentation</dc:title>
</cp:coreProperties>
</file>